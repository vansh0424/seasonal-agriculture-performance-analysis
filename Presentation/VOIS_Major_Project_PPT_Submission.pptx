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5" d="100"/>
          <a:sy n="85" d="100"/>
        </p:scale>
        <p:origin x="494" y="5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396663" cy="861497"/>
          </a:xfrm>
        </p:spPr>
        <p:txBody>
          <a:bodyPr vert="horz" lIns="91440" tIns="45720" rIns="91440" bIns="45720" rtlCol="0" anchor="t">
            <a:normAutofit/>
          </a:bodyPr>
          <a:lstStyle/>
          <a:p>
            <a:pPr algn="ctr"/>
            <a:r>
              <a:rPr lang="en-US" b="0" dirty="0">
                <a:solidFill>
                  <a:schemeClr val="tx1"/>
                </a:solidFill>
              </a:rPr>
              <a:t>Vansh Raj Yadav </a:t>
            </a:r>
            <a:endParaRPr lang="en-IN" b="0" dirty="0">
              <a:solidFill>
                <a:schemeClr val="tx1"/>
              </a:solidFill>
            </a:endParaRPr>
          </a:p>
          <a:p>
            <a:pPr algn="r"/>
            <a:r>
              <a:rPr lang="en-US" b="0" dirty="0">
                <a:solidFill>
                  <a:schemeClr val="tx1"/>
                </a:solidFill>
              </a:rPr>
              <a:t>GLA University, Mathura</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366154" cy="743448"/>
          </a:xfrm>
        </p:spPr>
        <p:txBody>
          <a:bodyPr>
            <a:normAutofit fontScale="90000"/>
          </a:bodyPr>
          <a:lstStyle/>
          <a:p>
            <a:r>
              <a:rPr lang="en-GB" sz="3200" dirty="0"/>
              <a:t>Project Title -</a:t>
            </a:r>
            <a:r>
              <a:rPr lang="en-US"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658547" cy="369332"/>
          </a:xfrm>
          <a:prstGeom prst="rect">
            <a:avLst/>
          </a:prstGeom>
          <a:noFill/>
        </p:spPr>
        <p:txBody>
          <a:bodyPr wrap="square" rtlCol="0">
            <a:spAutoFit/>
          </a:bodyPr>
          <a:lstStyle/>
          <a:p>
            <a:r>
              <a:rPr lang="en-US" b="1" dirty="0"/>
              <a:t>AICTE STU ID :STU6a64da761a57a1784994422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US" sz="2200" b="0" dirty="0">
                <a:latin typeface="Calibri" panose="020F0502020204030204" pitchFamily="34" charset="0"/>
                <a:ea typeface="Calibri" panose="020F0502020204030204" pitchFamily="34" charset="0"/>
                <a:cs typeface="Calibri" panose="020F0502020204030204" pitchFamily="34" charset="0"/>
              </a:rPr>
              <a:t>The project analyzes a 4,000-record agricultural dataset to understand how seasonal conditions and farming factors relate to agricultural performance. The analysis covers yield, profit, water efficiency, crop performance, irrigation methods, state-wise profitability and relationships between environmental variables and yield.</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marL="0" indent="0">
              <a:spcAft>
                <a:spcPts val="800"/>
              </a:spcAft>
              <a:buNone/>
              <a:defRPr sz="1900" b="0"/>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Farmers – understand seasonal and crop-level performance.</a:t>
            </a:r>
          </a:p>
          <a:p>
            <a:pPr marL="0" indent="0">
              <a:spcAft>
                <a:spcPts val="800"/>
              </a:spcAft>
              <a:buNone/>
              <a:defRPr sz="1900" b="0"/>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 Agricultural planners – compare regional and seasonal outcomes.</a:t>
            </a:r>
          </a:p>
          <a:p>
            <a:pPr marL="0" indent="0">
              <a:spcAft>
                <a:spcPts val="800"/>
              </a:spcAft>
              <a:buNone/>
              <a:defRPr sz="1900" b="0"/>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 Agribusinesses – evaluate profitability and market-oriented performance.</a:t>
            </a:r>
          </a:p>
          <a:p>
            <a:pPr marL="0" indent="0">
              <a:spcAft>
                <a:spcPts val="800"/>
              </a:spcAft>
              <a:buNone/>
              <a:defRPr sz="1900" b="0"/>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 Irrigation managers – compare irrigation and water-efficiency patterns.</a:t>
            </a:r>
          </a:p>
          <a:p>
            <a:pPr marL="0" indent="0">
              <a:spcAft>
                <a:spcPts val="800"/>
              </a:spcAft>
              <a:buNone/>
              <a:defRPr sz="1900" b="0"/>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 Researchers &amp; students – use the analysis for agricultural insights and further study.</a:t>
            </a:r>
          </a:p>
          <a:p>
            <a:pPr algn="just">
              <a:lnSpc>
                <a:spcPct val="150000"/>
              </a:lnSpc>
            </a:pPr>
            <a:endParaRPr lang="en-IN" sz="36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marL="0" indent="0">
              <a:spcAft>
                <a:spcPts val="800"/>
              </a:spcAft>
              <a:buNone/>
              <a:defRPr sz="2000" b="0"/>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Python – data analysis and programming</a:t>
            </a:r>
          </a:p>
          <a:p>
            <a:pPr marL="0" indent="0">
              <a:spcAft>
                <a:spcPts val="800"/>
              </a:spcAft>
              <a:buNone/>
              <a:defRPr sz="2000" b="0"/>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Pandas – data cleaning, grouping and aggregation</a:t>
            </a:r>
          </a:p>
          <a:p>
            <a:pPr marL="0" indent="0">
              <a:spcAft>
                <a:spcPts val="800"/>
              </a:spcAft>
              <a:buNone/>
              <a:defRPr sz="2000" b="0"/>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NumPy – numerical operations</a:t>
            </a:r>
          </a:p>
          <a:p>
            <a:pPr marL="0" indent="0">
              <a:spcAft>
                <a:spcPts val="800"/>
              </a:spcAft>
              <a:buNone/>
              <a:defRPr sz="2000" b="0"/>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Matplotlib – charts and visualization</a:t>
            </a:r>
          </a:p>
          <a:p>
            <a:pPr marL="0" indent="0">
              <a:spcAft>
                <a:spcPts val="800"/>
              </a:spcAft>
              <a:buNone/>
              <a:defRPr sz="2000" b="0"/>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SciPy – statistical testing / ANOVA</a:t>
            </a:r>
          </a:p>
          <a:p>
            <a:pPr marL="0" indent="0">
              <a:spcAft>
                <a:spcPts val="800"/>
              </a:spcAft>
              <a:buNone/>
              <a:defRPr sz="2000" b="0"/>
            </a:pPr>
            <a:r>
              <a:rPr lang="en-US" dirty="0" err="1">
                <a:solidFill>
                  <a:schemeClr val="tx1"/>
                </a:solidFill>
                <a:latin typeface="Calibri" panose="020F0502020204030204" pitchFamily="34" charset="0"/>
                <a:ea typeface="Calibri" panose="020F0502020204030204" pitchFamily="34" charset="0"/>
                <a:cs typeface="Calibri" panose="020F0502020204030204" pitchFamily="34" charset="0"/>
              </a:rPr>
              <a:t>Jupyter</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Notebook / Google </a:t>
            </a:r>
            <a:r>
              <a:rPr lang="en-US" dirty="0" err="1">
                <a:solidFill>
                  <a:schemeClr val="tx1"/>
                </a:solidFill>
                <a:latin typeface="Calibri" panose="020F0502020204030204" pitchFamily="34" charset="0"/>
                <a:ea typeface="Calibri" panose="020F0502020204030204" pitchFamily="34" charset="0"/>
                <a:cs typeface="Calibri" panose="020F0502020204030204" pitchFamily="34" charset="0"/>
              </a:rPr>
              <a:t>Colab</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 analysis environment</a:t>
            </a:r>
          </a:p>
          <a:p>
            <a:pPr marL="0" indent="0">
              <a:spcAft>
                <a:spcPts val="800"/>
              </a:spcAft>
              <a:buNone/>
              <a:defRPr sz="2000" b="0"/>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CSV Dataset – source data</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a:extLst>
              <a:ext uri="{FF2B5EF4-FFF2-40B4-BE49-F238E27FC236}">
                <a16:creationId xmlns:a16="http://schemas.microsoft.com/office/drawing/2014/main" id="{E835E9F0-8408-4301-A21E-ECD78F0E6A4D}"/>
              </a:ext>
            </a:extLst>
          </p:cNvPr>
          <p:cNvSpPr txBox="1"/>
          <p:nvPr/>
        </p:nvSpPr>
        <p:spPr>
          <a:xfrm>
            <a:off x="675957" y="1275372"/>
            <a:ext cx="8474766" cy="3026470"/>
          </a:xfrm>
          <a:prstGeom prst="rect">
            <a:avLst/>
          </a:prstGeom>
          <a:noFill/>
        </p:spPr>
        <p:txBody>
          <a:bodyPr wrap="square">
            <a:spAutoFit/>
          </a:bodyPr>
          <a:lstStyle/>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Dataset: 4,000 records × 28 columns</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Seasons: Kharif (1,779), Rabi (1,627), Zaid (594)</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8 crops, 4 irrigation methods and 8 states</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Kharif has the highest average yield (5.64 t/ha) and profit (₹178,915)</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Drip has the highest average yield (6.62 t/ha)</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Rainfed shows the highest water-efficiency value (7.56 t/1000 m³)</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Seasonal profit differences are statistically significant (ANOVA p &lt; 0.001)</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Seasonal yield differences are not statistically significant (ANOVA p = 0.233)</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3" y="1431693"/>
            <a:ext cx="7099707" cy="477520"/>
          </a:xfrm>
        </p:spPr>
        <p:txBody>
          <a:bodyPr>
            <a:normAutofit fontScale="70000" lnSpcReduction="20000"/>
          </a:bodyPr>
          <a:lstStyle/>
          <a:p>
            <a:pPr marL="0" indent="0">
              <a:buNone/>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Analysis code: dataset loading, grouping by season/crop/irrigation/state, correlation analysis and ANOVA testing.</a:t>
            </a:r>
          </a:p>
          <a:p>
            <a:pPr marL="0" indent="0">
              <a:buNone/>
            </a:pPr>
            <a:endParaRPr lang="en-IN"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descr="code_analysis.png">
            <a:extLst>
              <a:ext uri="{FF2B5EF4-FFF2-40B4-BE49-F238E27FC236}">
                <a16:creationId xmlns:a16="http://schemas.microsoft.com/office/drawing/2014/main" id="{D8C3703D-690D-440F-9844-045925A07F49}"/>
              </a:ext>
            </a:extLst>
          </p:cNvPr>
          <p:cNvPicPr>
            <a:picLocks noChangeAspect="1"/>
          </p:cNvPicPr>
          <p:nvPr/>
        </p:nvPicPr>
        <p:blipFill>
          <a:blip r:embed="rId3"/>
          <a:stretch>
            <a:fillRect/>
          </a:stretch>
        </p:blipFill>
        <p:spPr>
          <a:xfrm>
            <a:off x="675957" y="2435712"/>
            <a:ext cx="5166360" cy="2423160"/>
          </a:xfrm>
          <a:prstGeom prst="rect">
            <a:avLst/>
          </a:prstGeom>
        </p:spPr>
      </p:pic>
      <p:pic>
        <p:nvPicPr>
          <p:cNvPr id="11" name="Picture 10" descr="code_anova.png">
            <a:extLst>
              <a:ext uri="{FF2B5EF4-FFF2-40B4-BE49-F238E27FC236}">
                <a16:creationId xmlns:a16="http://schemas.microsoft.com/office/drawing/2014/main" id="{DFBD8F2E-9D0F-4878-903E-1D833A4E9EAB}"/>
              </a:ext>
            </a:extLst>
          </p:cNvPr>
          <p:cNvPicPr>
            <a:picLocks noChangeAspect="1"/>
          </p:cNvPicPr>
          <p:nvPr/>
        </p:nvPicPr>
        <p:blipFill>
          <a:blip r:embed="rId4"/>
          <a:stretch>
            <a:fillRect/>
          </a:stretch>
        </p:blipFill>
        <p:spPr>
          <a:xfrm>
            <a:off x="6096000" y="2217420"/>
            <a:ext cx="4572000" cy="242316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3" y="1431693"/>
            <a:ext cx="8659566" cy="666078"/>
          </a:xfrm>
        </p:spPr>
        <p:txBody>
          <a:bodyPr>
            <a:noAutofit/>
          </a:bodyPr>
          <a:lstStyle/>
          <a:p>
            <a:pPr marL="0" indent="0">
              <a:spcAft>
                <a:spcPts val="800"/>
              </a:spcAft>
              <a:buNone/>
              <a:defRPr sz="1800" b="1"/>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Seasonal result: Kharif leads average yield and profit; Zaid has the lowest average profit in this dataset.</a:t>
            </a:r>
          </a:p>
        </p:txBody>
      </p:sp>
      <p:pic>
        <p:nvPicPr>
          <p:cNvPr id="9" name="Picture 8" descr="season_yield.png">
            <a:extLst>
              <a:ext uri="{FF2B5EF4-FFF2-40B4-BE49-F238E27FC236}">
                <a16:creationId xmlns:a16="http://schemas.microsoft.com/office/drawing/2014/main" id="{5850F4BB-0456-48CD-90D4-A6685E12127A}"/>
              </a:ext>
            </a:extLst>
          </p:cNvPr>
          <p:cNvPicPr>
            <a:picLocks noChangeAspect="1"/>
          </p:cNvPicPr>
          <p:nvPr/>
        </p:nvPicPr>
        <p:blipFill>
          <a:blip r:embed="rId3"/>
          <a:stretch>
            <a:fillRect/>
          </a:stretch>
        </p:blipFill>
        <p:spPr>
          <a:xfrm>
            <a:off x="807164" y="2306058"/>
            <a:ext cx="5074920" cy="2788920"/>
          </a:xfrm>
          <a:prstGeom prst="rect">
            <a:avLst/>
          </a:prstGeom>
        </p:spPr>
      </p:pic>
      <p:pic>
        <p:nvPicPr>
          <p:cNvPr id="11" name="Picture 10" descr="season_profit.png">
            <a:extLst>
              <a:ext uri="{FF2B5EF4-FFF2-40B4-BE49-F238E27FC236}">
                <a16:creationId xmlns:a16="http://schemas.microsoft.com/office/drawing/2014/main" id="{6ECD2114-8F50-4E4B-83C1-60D1B6595AD5}"/>
              </a:ext>
            </a:extLst>
          </p:cNvPr>
          <p:cNvPicPr>
            <a:picLocks noChangeAspect="1"/>
          </p:cNvPicPr>
          <p:nvPr/>
        </p:nvPicPr>
        <p:blipFill>
          <a:blip r:embed="rId4"/>
          <a:stretch>
            <a:fillRect/>
          </a:stretch>
        </p:blipFill>
        <p:spPr>
          <a:xfrm>
            <a:off x="6096000" y="2306058"/>
            <a:ext cx="5074920" cy="278892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3" y="1431692"/>
            <a:ext cx="7843777" cy="695939"/>
          </a:xfrm>
        </p:spPr>
        <p:txBody>
          <a:bodyPr>
            <a:normAutofit/>
          </a:bodyPr>
          <a:lstStyle/>
          <a:p>
            <a:pPr marL="0" indent="0">
              <a:spcAft>
                <a:spcPts val="800"/>
              </a:spcAft>
              <a:buNone/>
              <a:defRPr sz="1700" b="1"/>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Crop result: Sugarcane has the highest average profit. Irrigation result: Drip has the highest average yield, while Rainfed has the highest water-efficiency metric.</a:t>
            </a:r>
          </a:p>
        </p:txBody>
      </p:sp>
      <p:pic>
        <p:nvPicPr>
          <p:cNvPr id="9" name="Picture 8" descr="crop_profit.png">
            <a:extLst>
              <a:ext uri="{FF2B5EF4-FFF2-40B4-BE49-F238E27FC236}">
                <a16:creationId xmlns:a16="http://schemas.microsoft.com/office/drawing/2014/main" id="{4F6920B1-3EF3-4F14-9135-0AC2BA27B6CB}"/>
              </a:ext>
            </a:extLst>
          </p:cNvPr>
          <p:cNvPicPr>
            <a:picLocks noChangeAspect="1"/>
          </p:cNvPicPr>
          <p:nvPr/>
        </p:nvPicPr>
        <p:blipFill>
          <a:blip r:embed="rId3"/>
          <a:stretch>
            <a:fillRect/>
          </a:stretch>
        </p:blipFill>
        <p:spPr>
          <a:xfrm>
            <a:off x="596153" y="2065535"/>
            <a:ext cx="5074920" cy="2788920"/>
          </a:xfrm>
          <a:prstGeom prst="rect">
            <a:avLst/>
          </a:prstGeom>
        </p:spPr>
      </p:pic>
      <p:pic>
        <p:nvPicPr>
          <p:cNvPr id="11" name="Picture 10" descr="irrigation_efficiency.png">
            <a:extLst>
              <a:ext uri="{FF2B5EF4-FFF2-40B4-BE49-F238E27FC236}">
                <a16:creationId xmlns:a16="http://schemas.microsoft.com/office/drawing/2014/main" id="{52BDA52B-5F30-4C27-974B-D69A60818937}"/>
              </a:ext>
            </a:extLst>
          </p:cNvPr>
          <p:cNvPicPr>
            <a:picLocks noChangeAspect="1"/>
          </p:cNvPicPr>
          <p:nvPr/>
        </p:nvPicPr>
        <p:blipFill>
          <a:blip r:embed="rId4"/>
          <a:stretch>
            <a:fillRect/>
          </a:stretch>
        </p:blipFill>
        <p:spPr>
          <a:xfrm>
            <a:off x="5671073" y="2127632"/>
            <a:ext cx="5074920" cy="278892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2"/>
            <a:ext cx="8829895" cy="583541"/>
          </a:xfrm>
        </p:spPr>
        <p:txBody>
          <a:bodyPr>
            <a:normAutofit lnSpcReduction="10000"/>
          </a:bodyPr>
          <a:lstStyle/>
          <a:p>
            <a:pPr marL="0" indent="0">
              <a:spcAft>
                <a:spcPts val="800"/>
              </a:spcAft>
              <a:buNone/>
              <a:defRPr sz="1700" b="1"/>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Regional result: Punjab has the highest average profit. Correlations with yield are weak in this dataset, correlation indicates association, not causation.</a:t>
            </a:r>
          </a:p>
        </p:txBody>
      </p:sp>
      <p:pic>
        <p:nvPicPr>
          <p:cNvPr id="9" name="Picture 8" descr="state_profit.png">
            <a:extLst>
              <a:ext uri="{FF2B5EF4-FFF2-40B4-BE49-F238E27FC236}">
                <a16:creationId xmlns:a16="http://schemas.microsoft.com/office/drawing/2014/main" id="{A1DFCE40-1DC6-4691-9352-E8251507EBD0}"/>
              </a:ext>
            </a:extLst>
          </p:cNvPr>
          <p:cNvPicPr>
            <a:picLocks noChangeAspect="1"/>
          </p:cNvPicPr>
          <p:nvPr/>
        </p:nvPicPr>
        <p:blipFill>
          <a:blip r:embed="rId3"/>
          <a:stretch>
            <a:fillRect/>
          </a:stretch>
        </p:blipFill>
        <p:spPr>
          <a:xfrm>
            <a:off x="533400" y="2127632"/>
            <a:ext cx="5074920" cy="2788920"/>
          </a:xfrm>
          <a:prstGeom prst="rect">
            <a:avLst/>
          </a:prstGeom>
        </p:spPr>
      </p:pic>
      <p:pic>
        <p:nvPicPr>
          <p:cNvPr id="11" name="Picture 10" descr="yield_correlation.png">
            <a:extLst>
              <a:ext uri="{FF2B5EF4-FFF2-40B4-BE49-F238E27FC236}">
                <a16:creationId xmlns:a16="http://schemas.microsoft.com/office/drawing/2014/main" id="{11196A7D-E170-4E76-9968-C4B1DB5FEF4C}"/>
              </a:ext>
            </a:extLst>
          </p:cNvPr>
          <p:cNvPicPr>
            <a:picLocks noChangeAspect="1"/>
          </p:cNvPicPr>
          <p:nvPr/>
        </p:nvPicPr>
        <p:blipFill>
          <a:blip r:embed="rId4"/>
          <a:stretch>
            <a:fillRect/>
          </a:stretch>
        </p:blipFill>
        <p:spPr>
          <a:xfrm>
            <a:off x="5608320" y="2127632"/>
            <a:ext cx="5074920" cy="278892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3FCC520E-7FB9-47A8-A10A-4430AABED9D2}"/>
              </a:ext>
            </a:extLst>
          </p:cNvPr>
          <p:cNvSpPr txBox="1"/>
          <p:nvPr/>
        </p:nvSpPr>
        <p:spPr>
          <a:xfrm>
            <a:off x="675957" y="1607341"/>
            <a:ext cx="8474766" cy="2267287"/>
          </a:xfrm>
          <a:prstGeom prst="rect">
            <a:avLst/>
          </a:prstGeom>
          <a:noFill/>
        </p:spPr>
        <p:txBody>
          <a:bodyPr wrap="square">
            <a:spAutoFit/>
          </a:bodyPr>
          <a:lstStyle/>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Build an interactive Power BI / Tableau dashboard.</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Add multi-year data to identify long-term seasonal trends.</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Apply predictive models for yield and profit forecasting.</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Add weather forecasts and market-price data for decision support.</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Include district-level and farm-level drill-down analysis.</a:t>
            </a:r>
          </a:p>
          <a:p>
            <a:pPr algn="l">
              <a:spcAft>
                <a:spcPts val="800"/>
              </a:spcAft>
              <a:defRPr sz="1800" b="0"/>
            </a:pPr>
            <a:r>
              <a:rPr lang="en-US" dirty="0">
                <a:latin typeface="Calibri" panose="020F0502020204030204" pitchFamily="34" charset="0"/>
                <a:ea typeface="Calibri" panose="020F0502020204030204" pitchFamily="34" charset="0"/>
                <a:cs typeface="Calibri" panose="020F0502020204030204" pitchFamily="34" charset="0"/>
              </a:rPr>
              <a:t>• Develop recommendations for crop selection, irrigation and resource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https://github.com/Vansh0424/Seasonal-Agriculture-Performance-Analysis.git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72CA77E-3B4D-47B9-BD53-B5500F8DFE59}"/>
              </a:ext>
            </a:extLst>
          </p:cNvPr>
          <p:cNvPicPr>
            <a:picLocks noChangeAspect="1"/>
          </p:cNvPicPr>
          <p:nvPr/>
        </p:nvPicPr>
        <p:blipFill>
          <a:blip r:embed="rId3"/>
          <a:stretch>
            <a:fillRect/>
          </a:stretch>
        </p:blipFill>
        <p:spPr>
          <a:xfrm>
            <a:off x="1594479" y="1608410"/>
            <a:ext cx="6514344" cy="461015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1419</TotalTime>
  <Words>563</Words>
  <Application>Microsoft Office PowerPoint</Application>
  <PresentationFormat>Widescreen</PresentationFormat>
  <Paragraphs>52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The project analyzes a 4,000-record agricultural dataset to understand how seasonal conditions and farming factors relate to agricultural performance. The analysis covers yield, profit, water efficiency, crop performance, irrigation methods, state-wise profitability and relationships between environmental variables and yield.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Vansh Raj Yadav</cp:lastModifiedBy>
  <cp:revision>102</cp:revision>
  <dcterms:created xsi:type="dcterms:W3CDTF">2021-07-11T13:13:15Z</dcterms:created>
  <dcterms:modified xsi:type="dcterms:W3CDTF">2026-09-10T13:22:35Z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